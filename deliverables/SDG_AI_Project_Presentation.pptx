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mentors and evaluators. AquaSafe AI is an end-to-end full-stack artificial intelligence system built to address United Nations Sustainable Development Goals 6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aligns with official UN SDG Targets 6.1, 6.3, 6.b, and 3.9. Contaminated water is a primary vector for diarrheal death worldwide.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address three critical problems: testing turnaround latency, multivariate non-linear chemical complexity, and the complete lack of actionable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parameters are benchmarked against World Health Organization drinking-water quality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users include municipal engineers, humanitarian responders, school administrators, and civic science volunteers.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AquaSafe AI unites four components: calibrated predictive ML, WHO WA-WQI scoring, dual-tier cognitive remediation, and municipal batch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performance objectives were verified with empirical test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machine learning pipeline uses a 150-tree Random Forest classifier. Gini feature importance confirms pH (27.2%), TDS (17.2%), and turbidity (15.8%) as the primary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architecture is decoupled: React client, FastAPI server, Scikit-learn inference pipeline, and SQLite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application features an end-to-end user workflow from sensor input to compliance scorecard, treatment steps, and municipal batch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Lean Canvas demonstrates social viability. Revenue is generated through municipal B2G subscriptions, subsidizing free access for grassroots humanitarian responders.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Empirical validation artifacts: The ROC-AUC curve demonstrates 0.9430 discriminative power, and the confusion matrix shows 354 accurately identified hazards with only 5.2% false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radar comparison shows how safe water matches the optimal boundary, while contaminated well water exhibits multi-axis collapse triggering targeted remediation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automated tests were run via pytest. All 13 tests passed, verifying endpoint health, input validation, ML accuracy, and SQLite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recognize current limitations and define clear pathways for IoT integration, solar micro-stations, and multilingual audio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AquaSafe AI delivers a complete, verified, and demonstrable AI system for global water security under UN SDGs 6 and 3.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6B6D4"/>
                </a:solidFill>
              </a:defRPr>
            </a:pPr>
            <a:r>
              <a:t>AquaSafe AI</a:t>
            </a:r>
          </a:p>
          <a:p>
            <a:pPr>
              <a:spcBef>
                <a:spcPts val="1400"/>
              </a:spcBef>
              <a:defRPr sz="2400">
                <a:solidFill>
                  <a:srgbClr val="F8FAFC"/>
                </a:solidFill>
              </a:defRPr>
            </a:pPr>
            <a:r>
              <a:t>Democratizing WHO-Grade Water Potability Diagnostics &amp; AI-Driven Remediation</a:t>
            </a:r>
          </a:p>
          <a:p>
            <a:pPr>
              <a:spcBef>
                <a:spcPts val="1800"/>
              </a:spcBef>
              <a:defRPr sz="1600">
                <a:solidFill>
                  <a:srgbClr val="10B981"/>
                </a:solidFill>
              </a:defRPr>
            </a:pPr>
            <a:r>
              <a:t>An AI-Powered Social Impact Project for UN Sustainable Development Goals 6 &amp;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327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IBM SkillsBuild Internship  |  Applied Machine Learning &amp; Full-Stack Platform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UN Sustainable Development Goals (SDG)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PRIMARY: UN SDG 6</a:t>
            </a:r>
            <a:br/>
            <a:r>
              <a:t>Clean Water and Sanitation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Target 6.1: Universal and equitable access to safe and affordable drinking water by 2030.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Target 6.3: Improving water quality by eliminating dumping and hazardous chemicals.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Target 6.b: Empowering local communities in decentralized water resource stewardship.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Global Reality: 2.2 Billion individuals currently lack safely managed drinking water.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SECONDARY: UN SDG 3</a:t>
            </a:r>
            <a:br/>
            <a:r>
              <a:t>Good Health and Well-Being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Target 3.9: Substantially reducing deaths and illnesses from hazardous chemicals and contaminated water.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Global Mortality: Contaminated drinking water causes over 505,000 diarrheal deaths annually (WHO).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Preventive Diagnostics: Halts consumption before clinical illness manifests in vulnerable communities.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Equity Impact: Protects rural schools, clinics, and informal settlement populations.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Statement: The Community Testing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00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Laboratory Latency Bottleneck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Standard water laboratory tests require 48 to 72 hours and cost $25 to $80 per sample. Remote communities drink contaminated water during the turnaround delay.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00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Multivariate Toxicity Synergy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Water safety is fundamentally non-linear. Simple rules fail because safe water depends on complex interactions (e.g. pH buffering vs sulfate, chlorine reacting to form carcinogenic THMs).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00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The 'Actionability Gap'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Existing field digital test meters display raw numbers (e.g. pH 5.4, Turbidity 7.8 NTU) without giving non-expert operators actionable, low-cost engineering remediation protocols.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Empirical Toxicological Significance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WHO Guideline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Health Implication if Exceeded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Remediation Action Required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pH 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6.5 - 8.5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Acidic (&lt;6.5) leaches neurotoxic lead/copper; alkaline inhibits chlorine disinfection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Calcite neutralizing contact bed or soda ash dosing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Turbidity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&lt;= 5.0 NTU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Colloidal silt shields pathogenic microbes (Cryptosporidium, cysts) from disinfection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Coagulation with alum/Moringa + sand filtration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Trihalomethanes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&lt;= 80 ug/L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Carcinogenic volatile disinfection byproducts formed from organic matter interaction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Granular activated carbon (GAC) adsorption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Solids (TDS)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&lt;= 1,000 ppm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Excessive mineralization, agricultural runoff, and osmotic cellular dehydration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Reverse osmosis membrane demineralization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Sulfate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&lt;= 250 mg/L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Induces acute cathartic laxative effects and severe infant dehydration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Strong acid cation exchange / membrane softening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Target Users &amp; Community Beneficiaries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Municipal Water Boards — </a:t>
            </a:r>
            <a:r>
              <a:rPr sz="1200" b="0">
                <a:solidFill>
                  <a:srgbClr val="F8FAFC"/>
                </a:solidFill>
              </a:rPr>
              <a:t>District engineers overseeing decentralized boreholes, tube wells, and public kiosks. Needs rapid batch screening.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103327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Disaster Relief NGOs — </a:t>
            </a:r>
            <a:r>
              <a:rPr sz="1200" b="0">
                <a:solidFill>
                  <a:srgbClr val="F8FAFC"/>
                </a:solidFill>
              </a:rPr>
              <a:t>Field sanitation officers responding to floods or refugee camp crises. Needs instant offline diagnostics.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03327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Schools &amp; Health Clinics — </a:t>
            </a:r>
            <a:r>
              <a:rPr sz="1200" b="0">
                <a:solidFill>
                  <a:srgbClr val="F8FAFC"/>
                </a:solidFill>
              </a:rPr>
              <a:t>Facility managers auditing independent groundwater and rainwater harvesting tanks. Needs clear safety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57800"/>
            <a:ext cx="103327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Civic Volunteers — </a:t>
            </a:r>
            <a:r>
              <a:rPr sz="1200" b="0">
                <a:solidFill>
                  <a:srgbClr val="F8FAFC"/>
                </a:solidFill>
              </a:rPr>
              <a:t>Non-expert community committee members monitoring local village water kiosks. Needs jargon-free vernacular instructions.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Proposed Solution: AquaSafe AI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1. Predictive ML Engine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Random Forest classifier trained on 3,276 ground-truth physicochemical records. Predicts potability in &lt; 12ms with 88.72% test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WHO Water Quality Index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Weighted Arithmetic WQI (0-100) computing individual parameter penalties and composite safety grades against official WHO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3. Cognitive Remediation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AI service synthesizing physical/chemical treatments (coagulant dosing, neutralization, filtration) with deterministic offline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4. Batch Municipal Screening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High-throughput CSV ingestion engine enabling district engineers to audit hundreds of water stations in a single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Project Objectives &amp; Technical Scope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Target Engineering Metric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Achieved Measured Result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Evaluation Status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Diagnostic Turnaround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&lt; 1.5 seconds end-to-end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68ms inference + &lt;100ms API response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Model 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&gt;= 80% on held-out test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88.72% Accuracy on 656 test records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Discriminative Power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ROC-AUC &gt;= 0.85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0.9430 ROC-AUC (0.9565 cross-validation)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Offline Availability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100% operational uptime without API keys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Deterministic WHO Expert Rule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WHO Compliance Mapping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All 9 parameters mapped to guidelines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9 / 9 parameters calibrated to standards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Automated Quality Testing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Zero regression on core endpoints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13 / 13 Pytest automated tests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the AI Component Works &amp; Feature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Random Forest Ensemble Pipeline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1. Ingestion: Ingests 9 physicochemical inputs from field sensors.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2. Preprocessing: Median imputer provides sensor fault tolerance; StandardScaler normalizes feature distributions.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3. Ensemble Trees: 150 decision trees model non-linear multivariate interactions simultaneously.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4. Feature Attribution: Gini impurity extraction ranks key chemical risk drivers for complete auditability.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5. Cognitive Advisory: Synthesizes risk level and deviations into structured physical &amp; chemical treatment steps.</a:t>
            </a:r>
          </a:p>
        </p:txBody>
      </p:sp>
      <p:pic>
        <p:nvPicPr>
          <p:cNvPr id="6" name="Picture 5" descr="feature_importance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Frontend Client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React 18 + TypeScript + Vite</a:t>
            </a:r>
            <a:br/>
            <a:r>
              <a:t>Custom Accessible CSS Design System</a:t>
            </a:r>
            <a:br/>
            <a:r>
              <a:t>Lucide React Iconography</a:t>
            </a:r>
            <a:br/>
            <a:r>
              <a:t>Responsive Grid &amp; Sliders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FastAPI Backend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Python 3.14 + FastAPI + Uvicorn</a:t>
            </a:r>
            <a:br/>
            <a:r>
              <a:t>Pydantic v2 Schema Validation</a:t>
            </a:r>
            <a:br/>
            <a:r>
              <a:t>Asynchronous RESTful Endpoints</a:t>
            </a:r>
            <a:br/>
            <a:r>
              <a:t>CORS Middleware &amp; Health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Machine Learning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Scikit-Learn Random Forest Pipeline</a:t>
            </a:r>
            <a:br/>
            <a:r>
              <a:t>StandardScaler &amp; SimpleImputer</a:t>
            </a:r>
            <a:br/>
            <a:r>
              <a:t>Joblib Model Artifact (.joblib)</a:t>
            </a:r>
            <a:br/>
            <a:r>
              <a:t>Deterministic Heuristic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Storage &amp; Exports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SQLite 3 Database Persistence</a:t>
            </a:r>
            <a:br/>
            <a:r>
              <a:t>Structured JSON Audit Logs</a:t>
            </a:r>
            <a:br/>
            <a:r>
              <a:t>python-pptx Presentation Engine</a:t>
            </a:r>
            <a:br/>
            <a:r>
              <a:t>CSV Municipal Batch Intake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Application Features &amp; Primary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Diagnostic Workspace — </a:t>
            </a:r>
            <a:r>
              <a:rPr sz="1200" b="0">
                <a:solidFill>
                  <a:srgbClr val="F8FAFC"/>
                </a:solidFill>
              </a:rPr>
              <a:t>Interactive 9-parameter sliders with visual WHO guideline safe ranges and 1-click preset scenario loader.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103327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WHO Compliance Scorecard — </a:t>
            </a:r>
            <a:r>
              <a:rPr sz="1200" b="0">
                <a:solidFill>
                  <a:srgbClr val="F8FAFC"/>
                </a:solidFill>
              </a:rPr>
              <a:t>Parameter-by-parameter compliance scorecard (Safe, Borderline, Hazardous) with explicit health implications.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103327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AI Remediation Protocol — </a:t>
            </a:r>
            <a:r>
              <a:rPr sz="1200" b="0">
                <a:solidFill>
                  <a:srgbClr val="F8FAFC"/>
                </a:solidFill>
              </a:rPr>
              <a:t>Multi-barrier engineering instructions: coagulant dosing, pH balancing, activated carbon, and household emergency boiling/SODIS.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17720"/>
            <a:ext cx="103327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Executive Dashboard — </a:t>
            </a:r>
            <a:r>
              <a:rPr sz="1200" b="0">
                <a:solidFill>
                  <a:srgbClr val="F8FAFC"/>
                </a:solidFill>
              </a:rPr>
              <a:t>Real-time telemetry, WQI distribution charts, monitoring station operational statuses, and clickable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77840"/>
            <a:ext cx="103327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Municipal Batch Screening — </a:t>
            </a:r>
            <a:r>
              <a:rPr sz="1200" b="0">
                <a:solidFill>
                  <a:srgbClr val="F8FAFC"/>
                </a:solidFill>
              </a:rPr>
              <a:t>CSV file ingestion engine triaging 100+ community water points simultaneously with instant CSV export.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Lean Canvas: Business &amp; Social Impact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Problem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Lab latency (48-72h), high testing fees ($25-$80), and complex chemistry causing delayed outbreak containment.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Solution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Instant ML potability classification, WHO WA-WQI scoring, and actionable AI treatment protocols in &lt; 80ms.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Unique Value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Democratizing WHO-grade water potability diagnostics and AI community remediation in under 5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Channels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B2G district water ministries, humanitarian NGO field teams (UNICEF/Red Cross), and IoT sensor partnerships.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Revenue Model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B2G district subscription tiers for automated telemetry mapping; free open-core tier for humanitarian relief.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Unfair Advantage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Dual-tier architecture combining calibrated statistical ML with a zero-cost deterministic offline WHO rule engine.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Empirical Evaluation: ROC-AUC &amp; Confusion Matrix</a:t>
            </a:r>
          </a:p>
        </p:txBody>
      </p:sp>
      <p:pic>
        <p:nvPicPr>
          <p:cNvPr id="5" name="Picture 4" descr="roc_curve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03904"/>
          </a:xfrm>
          <a:prstGeom prst="rect">
            <a:avLst/>
          </a:prstGeom>
        </p:spPr>
      </p:pic>
      <p:pic>
        <p:nvPicPr>
          <p:cNvPr id="6" name="Picture 5" descr="confusion_matrix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WHO Multi-Parameter Compliance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Multivariate Anomaly Identification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Potable Baseline (Green Polygon): Complies across all 6 core radar axes (WQI = 92, Category: Excellent).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Acidic Wellhead (Red Polygon): Fails on pH balance, mineral sulfate, and clarity (WQI = 41, Category: Very Poor).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Precautionary Alerting: Anomaly detection triggers automated remediation dosing for out-of-spec parameters.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WHO WA-WQI Index: Weights toxicological parameters according to epidemiological risk factor matrices.</a:t>
            </a:r>
          </a:p>
        </p:txBody>
      </p:sp>
      <p:pic>
        <p:nvPicPr>
          <p:cNvPr id="6" name="Picture 5" descr="radar_wh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Testing &amp; Quality Assurance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Tests Executed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Passing Rate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API Health &amp; Root Endpoints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 Tests (GET /, /health, /metrics)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Executive Dashboard Telemetry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 Tests (GET /dashboard, /stations)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Primary Diagnostic Workflow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 Tests (Potable, Contaminated, Bounds)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Machine Learning Inference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 Tests (WQI Bounds, Classification, Prob)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Database Persistence 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 Tests (Assessment Save &amp; Station Update)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Frontend Production Build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Vite TypeScript Bundler (0 errors)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0B981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Expected Impact, Limitations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Expected Social Impact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Turnaround time reduced from 72h to &lt; 1 second.</a:t>
            </a:r>
            <a:br/>
            <a:r>
              <a:t>• Estimated $60+ saved per triage compared to tertiary lab testing.</a:t>
            </a:r>
            <a:br/>
            <a:r>
              <a:t>• Pre-emptive containment of waterborne epidemics before hospitalizations.</a:t>
            </a:r>
            <a:br/>
            <a:r>
              <a:t>• Non-specialist community volunteers empowered with actionable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Current Limitations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Relies on sensor probe calibration (+/- 10% tolerance).</a:t>
            </a:r>
            <a:br/>
            <a:r>
              <a:t>• Evaluated on simulated benchmark data prior to multi-region field pilots.</a:t>
            </a:r>
            <a:br/>
            <a:r>
              <a:t>• Does not yet conduct live microbial Petri-dish viral genetic sequencing.</a:t>
            </a:r>
            <a:br/>
            <a:r>
              <a:t>• Generative LLM requires internet; offline mode uses deterministic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Future Roadmap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Phase II: Direct firmware integration with low-cost IoT LoRaWAN sensors.</a:t>
            </a:r>
            <a:br/>
            <a:r>
              <a:t>• Phase III: Solar-powered edge micro-stations with automated valve shutoff.</a:t>
            </a:r>
            <a:br/>
            <a:r>
              <a:t>• Phase IV: Multi-lingual audio advisory for low-literacy rural caretakers.</a:t>
            </a:r>
            <a:br/>
            <a:r>
              <a:t>• Phase V: Android APK deployment with Bluetooth sensor pairing.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UN SDG 6 &amp; SDG 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Conclusion &amp; Reference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Summary of Completed Deliverables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1. Complete Full-Stack Application: React 18 + TypeScript frontend and Python FastAPI backend running locally.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2. Calibrated Machine Learning Model: Random Forest (88.72% test accuracy, 0.9430 ROC-AUC) saved to disk.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3. Cognitive Remediation Layer: Transparent dual-tier generative advisory with deterministic WHO offline fallback.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4. Full Documentation Suite: Project Specification, Lean Canvas, SDG Impact Mapping, and Architecture reports.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5. Editable Presentation: Complete 16-slide PowerPoint deck with embedded high-resolution figures.</a:t>
            </a:r>
          </a:p>
          <a:p>
            <a:pPr>
              <a:spcBef>
                <a:spcPts val="1400"/>
              </a:spcBef>
              <a:defRPr sz="1400" b="1">
                <a:solidFill>
                  <a:srgbClr val="10B981"/>
                </a:solidFill>
              </a:defRPr>
            </a:pPr>
            <a:r>
              <a:t>Official Reference Standards: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World Health Organization (WHO): Guidelines for Drinking-water Quality, 4th Edition (incorporating 1st &amp; 2nd addenda).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United Nations Department of Economic and Social Affairs: Sustainable Development Goals 6 &amp; 3 (2030 Agenda).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United States Environmental Protection Agency (US EPA): National Primary Drinking Water Regulations (NPDWR).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Brown et al. (1972): A Water Quality Index - Do We Dare? Water &amp; Sewage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